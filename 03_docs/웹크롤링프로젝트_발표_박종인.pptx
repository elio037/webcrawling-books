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9" r:id="rId5"/>
    <p:sldId id="260" r:id="rId6"/>
    <p:sldId id="261" r:id="rId7"/>
    <p:sldId id="262" r:id="rId8"/>
    <p:sldId id="264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charts/_rels/chart1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1.xlsx"  /></Relationships>
</file>

<file path=ppt/charts/_rels/chart2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2.xlsx"  /></Relationships>
</file>

<file path=ppt/charts/_rels/chart3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3.xlsx"  /></Relationships>
</file>

<file path=ppt/charts/chart1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 wrap="none" lIns="0" tIns="0" rIns="0" bIns="0" anchor="ctr" anchorCtr="1"/>
          <a:p>
            <a:pPr algn="l">
              <a:defRPr sz="1300" b="0" i="0" u="none">
                <a:latin typeface="맑은 고딕"/>
              </a:defRPr>
            </a:pPr>
            <a:r>
              <a:rPr sz="1300" b="0" i="0" u="none">
                <a:latin typeface="맑은 고딕"/>
              </a:rPr>
              <a:t>클래스별 F1 점수</a:t>
            </a:r>
            <a:endParaRPr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dPt>
            <c:idx val="0"/>
            <c:invertIfNegative val="0"/>
            <c:bubble3D val="0"/>
            <c:spPr>
              <a:solidFill>
                <a:srgbClr val="c75d52"/>
              </a:solidFill>
            </c:spPr>
          </c:dPt>
          <c:dPt>
            <c:idx val="1"/>
            <c:invertIfNegative val="0"/>
            <c:bubble3D val="0"/>
            <c:spPr>
              <a:solidFill>
                <a:srgbClr val="c2913a"/>
              </a:solidFill>
            </c:spPr>
          </c:dPt>
          <c:dPt>
            <c:idx val="2"/>
            <c:invertIfNegative val="0"/>
            <c:bubble3D val="0"/>
            <c:spPr>
              <a:solidFill>
                <a:srgbClr val="3e8e5a"/>
              </a:solidFill>
            </c:spPr>
          </c:dPt>
          <c:invertIfNegative val="0"/>
          <c:cat>
            <c:strRef>
              <c:f>Sheet1!$A$2:$A$4</c:f>
              <c:strCache>
                <c:ptCount val="3"/>
                <c:pt idx="0">
                  <c:v>부정</c:v>
                </c:pt>
                <c:pt idx="1">
                  <c:v>중립</c:v>
                </c:pt>
                <c:pt idx="2">
                  <c:v>긍정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0.71</c:v>
                </c:pt>
                <c:pt idx="1">
                  <c:v>0.47</c:v>
                </c:pt>
                <c:pt idx="2">
                  <c:v>0.68</c:v>
                </c:pt>
              </c:numCache>
            </c:numRef>
          </c:val>
        </c:ser>
        <c:dLbls>
          <c:delete val="0"/>
          <c:numFmt formatCode="0.00" sourceLinked="0"/>
          <c:txPr>
            <a:bodyPr rot="0" vert="horz" wrap="none" lIns="0" tIns="0" rIns="0" bIns="0" anchor="ctr" anchorCtr="1"/>
            <a:p>
              <a:pPr algn="l">
                <a:defRPr sz="1200" b="0" i="0" u="none">
                  <a:latin typeface="맑은 고딕"/>
                </a:defRPr>
              </a:pPr>
              <a:endParaRPr/>
            </a:p>
          </c:txPr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68027336"/>
        <c:axId val="2113994440"/>
      </c:barChart>
      <c:catAx>
        <c:axId val="2068027336"/>
        <c:scaling>
          <c:orientation val="minMax"/>
        </c:scaling>
        <c:axPos val="b"/>
        <c:crossAx val="2113994440"/>
        <c:delete val="0"/>
        <c:majorTickMark val="out"/>
        <c:minorTickMark val="none"/>
        <c:tickLblPos val="nextTo"/>
        <c:txPr>
          <a:bodyPr rot="0" vert="horz" wrap="none" lIns="0" tIns="0" rIns="0" bIns="0" anchor="ctr" anchorCtr="1"/>
          <a:p>
            <a:pPr algn="l">
              <a:defRPr sz="1200" b="0" i="0" u="none">
                <a:latin typeface="맑은 고딕"/>
              </a:defRPr>
            </a:pPr>
            <a:endParaRPr/>
          </a:p>
        </c:txPr>
        <c:crosses val="autoZero"/>
        <c:auto val="1"/>
        <c:lblAlgn val="ctr"/>
        <c:lblOffset val="100"/>
        <c:tickMarkSkip val="1"/>
        <c:noMultiLvlLbl val="0"/>
      </c:catAx>
      <c:valAx>
        <c:axId val="2113994440"/>
        <c:scaling>
          <c:orientation val="minMax"/>
          <c:max val="1"/>
          <c:min val="0"/>
        </c:scaling>
        <c:axPos val="l"/>
        <c:crossAx val="2068027336"/>
        <c:delete val="1"/>
        <c:numFmt formatCode="General" sourceLinked="1"/>
        <c:majorTickMark val="out"/>
        <c:minorTickMark val="none"/>
        <c:tickLblPos val="nextTo"/>
        <c:crosses val="autoZero"/>
        <c:crossBetween val="between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plotVisOnly val="0"/>
    <c:dispBlanksAs val="gap"/>
  </c:chart>
  <c:txPr>
    <a:bodyPr rot="0" vert="horz" wrap="none" lIns="0" tIns="0" rIns="0" bIns="0" anchor="ctr" anchorCtr="1"/>
    <a:p>
      <a:pPr algn="l">
        <a:defRPr sz="1800" b="0" i="0" u="none"/>
      </a:pPr>
      <a:endParaRPr/>
    </a:p>
  </c:txPr>
  <c:extLst>
    <c:ext uri="CC8EB2C9-7E31-499d-B8F2-F6CE61031016">
      <ho:hncChartStyle xmlns:ho="http://schemas.haansoft.com/office/8.0" layoutIndex="-1" colorIndex="-1" styleIndex="-1"/>
    </c:ext>
  </c:extLst>
</c:chartSpace>
</file>

<file path=ppt/charts/chart2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 wrap="none" lIns="0" tIns="0" rIns="0" bIns="0" anchor="ctr" anchorCtr="1"/>
          <a:p>
            <a:pPr algn="l">
              <a:defRPr sz="1300" b="0" i="0" u="none">
                <a:latin typeface="맑은 고딕"/>
              </a:defRPr>
            </a:pPr>
            <a:r>
              <a:rPr sz="1300" b="0" i="0" u="none">
                <a:latin typeface="맑은 고딕"/>
              </a:rPr>
              <a:t>무관 리뷰 비율 — 화제작 vs 일반책 (%)</a:t>
            </a:r>
            <a:endParaRPr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무관 비율(%)</c:v>
                </c:pt>
              </c:strCache>
            </c:strRef>
          </c:tx>
          <c:dPt>
            <c:idx val="0"/>
            <c:invertIfNegative val="0"/>
            <c:bubble3D val="0"/>
            <c:spPr>
              <a:solidFill>
                <a:srgbClr val="c75d52"/>
              </a:solidFill>
            </c:spPr>
          </c:dPt>
          <c:dPt>
            <c:idx val="1"/>
            <c:invertIfNegative val="0"/>
            <c:bubble3D val="0"/>
            <c:spPr>
              <a:solidFill>
                <a:srgbClr val="c2913a"/>
              </a:solidFill>
            </c:spPr>
          </c:dPt>
          <c:dPt>
            <c:idx val="2"/>
            <c:invertIfNegative val="0"/>
            <c:bubble3D val="0"/>
            <c:spPr>
              <a:solidFill>
                <a:srgbClr val="3e8e5a"/>
              </a:solidFill>
            </c:spPr>
          </c:dPt>
          <c:dPt>
            <c:idx val="3"/>
            <c:invertIfNegative val="0"/>
            <c:bubble3D val="0"/>
            <c:spPr>
              <a:solidFill>
                <a:srgbClr val="3e8e5a"/>
              </a:solidFill>
            </c:spPr>
          </c:dPt>
          <c:invertIfNegative val="0"/>
          <c:cat>
            <c:strRef>
              <c:f>Sheet1!$A$2:$A$5</c:f>
              <c:strCache>
                <c:ptCount val="4"/>
                <c:pt idx="0">
                  <c:v>주술회전
특장판</c:v>
                </c:pt>
                <c:pt idx="1">
                  <c:v>한정판류</c:v>
                </c:pt>
                <c:pt idx="2">
                  <c:v>데미안</c:v>
                </c:pt>
                <c:pt idx="3">
                  <c:v>사피엔스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23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delete val="0"/>
          <c:numFmt formatCode="0&quot;%&quot;" sourceLinked="0"/>
          <c:txPr>
            <a:bodyPr rot="0" vert="horz" wrap="none" lIns="0" tIns="0" rIns="0" bIns="0" anchor="ctr" anchorCtr="1"/>
            <a:p>
              <a:pPr algn="l">
                <a:defRPr sz="1100" b="0" i="0" u="none">
                  <a:latin typeface="맑은 고딕"/>
                </a:defRPr>
              </a:pPr>
              <a:endParaRPr/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68027336"/>
        <c:axId val="2113994440"/>
      </c:barChart>
      <c:catAx>
        <c:axId val="2068027336"/>
        <c:scaling>
          <c:orientation val="minMax"/>
        </c:scaling>
        <c:axPos val="b"/>
        <c:crossAx val="2113994440"/>
        <c:delete val="0"/>
        <c:majorTickMark val="out"/>
        <c:minorTickMark val="none"/>
        <c:tickLblPos val="nextTo"/>
        <c:txPr>
          <a:bodyPr rot="0" vert="horz" wrap="none" lIns="0" tIns="0" rIns="0" bIns="0" anchor="ctr" anchorCtr="1"/>
          <a:p>
            <a:pPr algn="l">
              <a:defRPr sz="1100" b="0" i="0" u="none">
                <a:latin typeface="맑은 고딕"/>
              </a:defRPr>
            </a:pPr>
            <a:endParaRPr/>
          </a:p>
        </c:txPr>
        <c:crosses val="autoZero"/>
        <c:auto val="1"/>
        <c:lblAlgn val="ctr"/>
        <c:lblOffset val="100"/>
        <c:tickMarkSkip val="1"/>
        <c:noMultiLvlLbl val="0"/>
      </c:catAx>
      <c:valAx>
        <c:axId val="2113994440"/>
        <c:scaling>
          <c:orientation val="minMax"/>
        </c:scaling>
        <c:axPos val="l"/>
        <c:crossAx val="2068027336"/>
        <c:delete val="1"/>
        <c:numFmt formatCode="General" sourceLinked="1"/>
        <c:majorTickMark val="out"/>
        <c:minorTickMark val="none"/>
        <c:tickLblPos val="nextTo"/>
        <c:crosses val="autoZero"/>
        <c:crossBetween val="between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plotVisOnly val="0"/>
    <c:dispBlanksAs val="gap"/>
  </c:chart>
  <c:txPr>
    <a:bodyPr rot="0" vert="horz" wrap="none" lIns="0" tIns="0" rIns="0" bIns="0" anchor="ctr" anchorCtr="1"/>
    <a:p>
      <a:pPr algn="l">
        <a:defRPr sz="1800" b="0" i="0" u="none"/>
      </a:pPr>
      <a:endParaRPr/>
    </a:p>
  </c:tx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charts/chart3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 wrap="none" lIns="0" tIns="0" rIns="0" bIns="0" anchor="ctr" anchorCtr="1"/>
          <a:p>
            <a:pPr algn="l">
              <a:defRPr sz="1300" b="0" i="0" u="none">
                <a:latin typeface="맑은 고딕"/>
              </a:defRPr>
            </a:pPr>
            <a:r>
              <a:rPr sz="1300" b="0" i="0" u="none">
                <a:latin typeface="맑은 고딕"/>
              </a:rPr>
              <a:t>학습 곡선 — 6 epoch에서 Early Stopping</a:t>
            </a:r>
            <a:endParaRPr/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학습 정확도</c:v>
                </c:pt>
              </c:strCache>
            </c:strRef>
          </c:tx>
          <c:spPr>
            <a:ln cap="rnd" cmpd="sng">
              <a:solidFill>
                <a:srgbClr val="3c7269"/>
              </a:solidFill>
            </a:ln>
          </c:spPr>
          <c:marker/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0.5494</c:v>
                </c:pt>
                <c:pt idx="1">
                  <c:v>0.6256</c:v>
                </c:pt>
                <c:pt idx="2">
                  <c:v>0.6666</c:v>
                </c:pt>
                <c:pt idx="3">
                  <c:v>0.6999</c:v>
                </c:pt>
                <c:pt idx="4">
                  <c:v>0.7284</c:v>
                </c:pt>
                <c:pt idx="5">
                  <c:v>0.7581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검증 정확도</c:v>
                </c:pt>
              </c:strCache>
            </c:strRef>
          </c:tx>
          <c:spPr>
            <a:ln cap="rnd" cmpd="sng">
              <a:solidFill>
                <a:srgbClr val="cf9b53"/>
              </a:solidFill>
            </a:ln>
          </c:spPr>
          <c:marker/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0.558</c:v>
                </c:pt>
                <c:pt idx="1">
                  <c:v>0.6012</c:v>
                </c:pt>
                <c:pt idx="2">
                  <c:v>0.6035</c:v>
                </c:pt>
                <c:pt idx="3">
                  <c:v>0.5992</c:v>
                </c:pt>
                <c:pt idx="4">
                  <c:v>0.5884</c:v>
                </c:pt>
                <c:pt idx="5">
                  <c:v>0.5983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axPos val="b"/>
        <c:crossAx val="2140495176"/>
        <c:delete val="0"/>
        <c:majorTickMark val="out"/>
        <c:minorTickMark val="none"/>
        <c:tickLblPos val="nextTo"/>
        <c:txPr>
          <a:bodyPr rot="0" vert="horz" wrap="none" lIns="0" tIns="0" rIns="0" bIns="0" anchor="ctr" anchorCtr="1"/>
          <a:p>
            <a:pPr algn="l">
              <a:defRPr sz="1000" b="0" i="0" u="none"/>
            </a:pPr>
            <a:endParaRPr/>
          </a:p>
        </c:txPr>
        <c:crosses val="autoZero"/>
        <c:auto val="1"/>
        <c:lblAlgn val="ctr"/>
        <c:lblOffset val="100"/>
        <c:tickMarkSkip val="1"/>
        <c:noMultiLvlLbl val="0"/>
      </c:catAx>
      <c:valAx>
        <c:axId val="2140495176"/>
        <c:scaling>
          <c:orientation val="minMax"/>
        </c:scaling>
        <c:axPos val="l"/>
        <c:crossAx val="2118791784"/>
        <c:delete val="0"/>
        <c:majorGridlines/>
        <c:numFmt formatCode="General" sourceLinked="1"/>
        <c:majorTickMark val="out"/>
        <c:minorTickMark val="none"/>
        <c:tickLblPos val="nextTo"/>
        <c:txPr>
          <a:bodyPr rot="0" vert="horz" wrap="none" lIns="0" tIns="0" rIns="0" bIns="0" anchor="ctr" anchorCtr="1"/>
          <a:p>
            <a:pPr algn="l">
              <a:defRPr sz="1000" b="0" i="0" u="none"/>
            </a:pPr>
            <a:endParaRPr/>
          </a:p>
        </c:txPr>
        <c:crosses val="autoZero"/>
        <c:crossBetween val="between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legend>
      <c:legendPos val="b"/>
      <c:layout/>
      <c:overlay val="0"/>
      <c:txPr>
        <a:bodyPr rot="0" vert="horz" wrap="none" lIns="0" tIns="0" rIns="0" bIns="0" anchor="ctr" anchorCtr="1"/>
        <a:p>
          <a:pPr algn="l">
            <a:defRPr sz="1100" b="0" i="0" u="none">
              <a:latin typeface="맑은 고딕"/>
            </a:defRPr>
          </a:pPr>
          <a:endParaRPr/>
        </a:p>
      </c:txPr>
    </c:legend>
    <c:plotVisOnly val="0"/>
    <c:dispBlanksAs val="gap"/>
  </c:chart>
  <c:txPr>
    <a:bodyPr rot="0" vert="horz" wrap="none" lIns="0" tIns="0" rIns="0" bIns="0" anchor="ctr" anchorCtr="1"/>
    <a:p>
      <a:pPr algn="l">
        <a:defRPr sz="1800" b="0" i="0" u="none"/>
      </a:pPr>
      <a:endParaRPr/>
    </a:p>
  </c:txPr>
  <c:extLst>
    <c:ext uri="CC8EB2C9-7E31-499d-B8F2-F6CE61031016">
      <ho:hncChartStyle xmlns:ho="http://schemas.haansoft.com/office/8.0" layoutIndex="-1" colorIndex="-1" styleIndex="-1"/>
    </c:ext>
  </c:extLst>
</c:chartSpace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76" y="685800"/>
            <a:ext cx="6095847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6181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100173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chart" Target="../charts/char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Relationship Id="rId3" Type="http://schemas.openxmlformats.org/officeDocument/2006/relationships/chart" Target="../charts/char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chart" Target="../charts/chart3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2e4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1371600"/>
            <a:ext cx="201168" cy="201168"/>
          </a:xfrm>
          <a:prstGeom prst="roundRect">
            <a:avLst>
              <a:gd name="adj" fmla="val 6000"/>
            </a:avLst>
          </a:prstGeom>
          <a:solidFill>
            <a:srgbClr val="CF9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225296" y="1371600"/>
            <a:ext cx="201168" cy="201168"/>
          </a:xfrm>
          <a:prstGeom prst="roundRect">
            <a:avLst>
              <a:gd name="adj" fmla="val 6000"/>
            </a:avLst>
          </a:prstGeom>
          <a:solidFill>
            <a:srgbClr val="CF9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36192" y="1371600"/>
            <a:ext cx="201168" cy="201168"/>
          </a:xfrm>
          <a:prstGeom prst="roundRect">
            <a:avLst>
              <a:gd name="adj" fmla="val 6000"/>
            </a:avLst>
          </a:prstGeom>
          <a:solidFill>
            <a:srgbClr val="CF9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424160" cy="80645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defRPr/>
            </a:pPr>
            <a:r>
              <a:rPr sz="5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5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온라인 도서 사이트</a:t>
            </a:r>
            <a:r>
              <a:rPr sz="5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리뷰 분석</a:t>
            </a:r>
            <a:endParaRPr sz="5000" b="1" i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4241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2200" b="0" i="0">
                <a:solidFill>
                  <a:srgbClr val="DCEAE6"/>
                </a:solidFill>
                <a:latin typeface="맑은 고딕"/>
                <a:ea typeface="맑은 고딕"/>
                <a:cs typeface="맑은 고딕"/>
              </a:rPr>
              <a:t>웹 크롤링 · 감성분석 · Streamlit 웹앱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424160" cy="252095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a9c4be"/>
                </a:solidFill>
                <a:latin typeface="맑은 고딕"/>
                <a:ea typeface="맑은 고딕"/>
                <a:cs typeface="맑은 고딕"/>
              </a:rPr>
              <a:t>데이터 출처: 알라딘</a:t>
            </a:r>
            <a:endParaRPr sz="1400" b="0" i="0">
              <a:solidFill>
                <a:srgbClr val="a9c4b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4522270"/>
            <a:ext cx="3826844" cy="50475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defRPr/>
            </a:pPr>
            <a:r>
              <a:rPr lang="en-US" altLang="ko-KR" sz="3000" b="0" i="0">
                <a:solidFill>
                  <a:schemeClr val="lt1"/>
                </a:solidFill>
                <a:latin typeface="맑은 고딕"/>
                <a:ea typeface="맑은 고딕"/>
                <a:cs typeface="맑은 고딕"/>
              </a:rPr>
              <a:t>2503110169</a:t>
            </a:r>
            <a:r>
              <a:rPr lang="ko-KR" altLang="en-US" sz="3000" b="0" i="0">
                <a:solidFill>
                  <a:schemeClr val="lt1"/>
                </a:solidFill>
                <a:latin typeface="맑은 고딕"/>
                <a:ea typeface="맑은 고딕"/>
                <a:cs typeface="맑은 고딕"/>
              </a:rPr>
              <a:t> 박종인</a:t>
            </a:r>
            <a:endParaRPr lang="ko-KR" altLang="en-US" sz="3000" b="0" i="0">
              <a:solidFill>
                <a:schemeClr val="lt1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0292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CF9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7" y="466344"/>
            <a:ext cx="7315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600" b="1" i="0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프로젝트 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4826" y="1554480"/>
            <a:ext cx="6898506" cy="11760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  <a:defRPr/>
            </a:pPr>
            <a:r>
              <a:rPr sz="1800" b="0" i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알라딘</a:t>
            </a:r>
            <a:r>
              <a:rPr lang="ko-KR" altLang="en-US" sz="1800" b="0" i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을 메인으로 </a:t>
            </a:r>
            <a:r>
              <a:rPr sz="1800" b="0" i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직접 크롤링해 모은 100만데이터로,</a:t>
            </a:r>
            <a:endParaRPr sz="1800" b="0" i="0">
              <a:solidFill>
                <a:srgbClr val="2a3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  <a:defRPr/>
            </a:pPr>
            <a:r>
              <a:rPr sz="1800" b="0" i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책을 검색하면 리뷰와 평점은 물론,</a:t>
            </a:r>
            <a:r>
              <a:rPr lang="ko-KR" altLang="en-US" sz="1800" b="0" i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 해당 책이</a:t>
            </a:r>
            <a:r>
              <a:rPr sz="1800" b="0" i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i="0">
                <a:solidFill>
                  <a:schemeClr val="dk1"/>
                </a:solidFill>
                <a:latin typeface="맑은 고딕"/>
                <a:ea typeface="맑은 고딕"/>
                <a:cs typeface="맑은 고딕"/>
              </a:rPr>
              <a:t>긍정·중립·부정</a:t>
            </a:r>
            <a:r>
              <a:rPr sz="1800" b="0" i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 중 어디에 가까운</a:t>
            </a:r>
            <a:r>
              <a:rPr lang="ko-KR" altLang="en-US" sz="1800" b="0" i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지 </a:t>
            </a:r>
            <a:r>
              <a:rPr sz="1800" b="0" i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보여주는 도서 리뷰 분석</a:t>
            </a:r>
            <a:r>
              <a:rPr lang="ko-KR" altLang="en-US" sz="1800" b="0" i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 프로젝트를 구현</a:t>
            </a:r>
            <a:r>
              <a:rPr lang="en-US" altLang="ko-KR" sz="1800" b="0" i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lang="en-US" altLang="ko-KR" sz="1800" b="0" i="0">
              <a:solidFill>
                <a:srgbClr val="2a3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60920" y="1463040"/>
            <a:ext cx="4160520" cy="2743200"/>
          </a:xfrm>
          <a:prstGeom prst="roundRect">
            <a:avLst>
              <a:gd name="adj" fmla="val 6000"/>
            </a:avLst>
          </a:prstGeom>
          <a:solidFill>
            <a:srgbClr val="2e4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589520" y="2282190"/>
            <a:ext cx="3611880" cy="44831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cf9b53"/>
                </a:solidFill>
                <a:latin typeface="맑은 고딕"/>
                <a:ea typeface="맑은 고딕"/>
                <a:cs typeface="맑은 고딕"/>
              </a:rPr>
              <a:t>1,025,753</a:t>
            </a:r>
            <a:endParaRPr sz="2600" b="1" i="0">
              <a:solidFill>
                <a:srgbClr val="cf9b5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9520" y="1747787"/>
            <a:ext cx="3611880" cy="354063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defRPr/>
            </a:pPr>
            <a:r>
              <a:rPr sz="2000" b="0" i="0">
                <a:solidFill>
                  <a:srgbClr val="dceae6"/>
                </a:solidFill>
                <a:latin typeface="맑은 고딕"/>
                <a:ea typeface="맑은 고딕"/>
                <a:cs typeface="맑은 고딕"/>
              </a:rPr>
              <a:t>수집 리뷰 수</a:t>
            </a:r>
            <a:endParaRPr sz="2000" b="0" i="0">
              <a:solidFill>
                <a:srgbClr val="dceae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0" y="3429000"/>
            <a:ext cx="3611880" cy="446405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cf9b53"/>
                </a:solidFill>
                <a:latin typeface="맑은 고딕"/>
                <a:ea typeface="맑은 고딕"/>
                <a:cs typeface="맑은 고딕"/>
              </a:rPr>
              <a:t>82,769</a:t>
            </a:r>
            <a:endParaRPr sz="2600" b="1" i="0">
              <a:solidFill>
                <a:srgbClr val="cf9b5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35240" y="3017520"/>
            <a:ext cx="3611880" cy="351155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defRPr/>
            </a:pPr>
            <a:r>
              <a:rPr sz="2000" b="0" i="0">
                <a:solidFill>
                  <a:srgbClr val="dceae6"/>
                </a:solidFill>
                <a:latin typeface="맑은 고딕"/>
                <a:ea typeface="맑은 고딕"/>
                <a:cs typeface="맑은 고딕"/>
              </a:rPr>
              <a:t>도서 종수</a:t>
            </a:r>
            <a:endParaRPr sz="2000" b="0" i="0">
              <a:solidFill>
                <a:srgbClr val="dceae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35240" y="3886200"/>
            <a:ext cx="3611880" cy="244475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defRPr/>
            </a:pPr>
            <a:endParaRPr lang="ko-KR" altLang="en-US" sz="1300" b="0" i="0">
              <a:solidFill>
                <a:srgbClr val="dceae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" y="470916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EA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709160"/>
            <a:ext cx="3200400" cy="109728"/>
          </a:xfrm>
          <a:prstGeom prst="rect">
            <a:avLst/>
          </a:prstGeom>
          <a:solidFill>
            <a:srgbClr val="CF9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283464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600" b="1" i="0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크롤링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94376"/>
            <a:ext cx="2834640" cy="455549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spcAft>
                <a:spcPts val="200"/>
              </a:spcAft>
              <a:defRPr/>
            </a:pPr>
            <a:r>
              <a:rPr sz="1250" b="0" i="0">
                <a:solidFill>
                  <a:srgbClr val="6e8480"/>
                </a:solidFill>
                <a:latin typeface="맑은 고딕"/>
                <a:ea typeface="맑은 고딕"/>
                <a:cs typeface="맑은 고딕"/>
              </a:rPr>
              <a:t>비동기 수집</a:t>
            </a:r>
            <a:endParaRPr sz="1250" b="0" i="0">
              <a:solidFill>
                <a:srgbClr val="6e848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/>
            </a:pPr>
            <a:r>
              <a:rPr sz="1250" b="0" i="0">
                <a:solidFill>
                  <a:srgbClr val="6e8480"/>
                </a:solidFill>
                <a:latin typeface="맑은 고딕"/>
                <a:ea typeface="맑은 고딕"/>
                <a:cs typeface="맑은 고딕"/>
              </a:rPr>
              <a:t>알라딘</a:t>
            </a:r>
            <a:endParaRPr lang="en-US" altLang="ko-KR" sz="1250" b="0" i="0">
              <a:solidFill>
                <a:srgbClr val="6e848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86200" y="4709160"/>
            <a:ext cx="502920" cy="13258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400" b="1" i="0">
                <a:solidFill>
                  <a:srgbClr val="CF9B53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70916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EA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4709160"/>
            <a:ext cx="3200400" cy="109728"/>
          </a:xfrm>
          <a:prstGeom prst="rect">
            <a:avLst/>
          </a:prstGeom>
          <a:solidFill>
            <a:srgbClr val="CF9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892040"/>
            <a:ext cx="283464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600" b="1" i="0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전처리·감성분석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294376"/>
            <a:ext cx="283464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6E8480"/>
                </a:solidFill>
                <a:latin typeface="맑은 고딕"/>
                <a:ea typeface="맑은 고딕"/>
                <a:cs typeface="맑은 고딕"/>
              </a:rPr>
              <a:t>정제·토큰화</a:t>
            </a:r>
          </a:p>
          <a:p>
            <a:pPr algn="l"/>
            <a:r>
              <a:rPr sz="1250" b="0" i="0">
                <a:solidFill>
                  <a:srgbClr val="6E8480"/>
                </a:solidFill>
                <a:latin typeface="맑은 고딕"/>
                <a:ea typeface="맑은 고딕"/>
                <a:cs typeface="맑은 고딕"/>
              </a:rPr>
              <a:t>LSTM 감성 모델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709160"/>
            <a:ext cx="502920" cy="13258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400" b="1" i="0">
                <a:solidFill>
                  <a:srgbClr val="CF9B53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4709160"/>
            <a:ext cx="3200400" cy="1325880"/>
          </a:xfrm>
          <a:prstGeom prst="roundRect">
            <a:avLst>
              <a:gd name="adj" fmla="val 6000"/>
            </a:avLst>
          </a:prstGeom>
          <a:solidFill>
            <a:srgbClr val="EA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4709160"/>
            <a:ext cx="3200400" cy="109728"/>
          </a:xfrm>
          <a:prstGeom prst="rect">
            <a:avLst/>
          </a:prstGeom>
          <a:solidFill>
            <a:srgbClr val="CF9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19" y="4892040"/>
            <a:ext cx="283464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600" b="1" i="0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Streamlit 웹앱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5294376"/>
            <a:ext cx="283464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6E8480"/>
                </a:solidFill>
                <a:latin typeface="맑은 고딕"/>
                <a:ea typeface="맑은 고딕"/>
                <a:cs typeface="맑은 고딕"/>
              </a:rPr>
              <a:t>검색·순위·감성·</a:t>
            </a:r>
          </a:p>
          <a:p>
            <a:pPr algn="l"/>
            <a:r>
              <a:rPr sz="1250" b="0" i="0">
                <a:solidFill>
                  <a:srgbClr val="6E8480"/>
                </a:solidFill>
                <a:latin typeface="맑은 고딕"/>
                <a:ea typeface="맑은 고딕"/>
                <a:cs typeface="맑은 고딕"/>
              </a:rPr>
              <a:t>단어 빈도수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114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CF9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7" y="422275"/>
            <a:ext cx="8229600" cy="45085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defRPr/>
            </a:pPr>
            <a:r>
              <a:rPr lang="ko-KR" altLang="en-US" sz="2600" b="1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크롤링 후 전처리중</a:t>
            </a:r>
            <a:r>
              <a:rPr sz="2600" b="1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 문제들</a:t>
            </a:r>
            <a:endParaRPr sz="2600" b="1">
              <a:solidFill>
                <a:srgbClr val="3c726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1481328"/>
          </a:xfrm>
          <a:prstGeom prst="roundRect">
            <a:avLst>
              <a:gd name="adj" fmla="val 6000"/>
            </a:avLst>
          </a:prstGeom>
          <a:solidFill>
            <a:srgbClr val="EA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46304" cy="1481328"/>
          </a:xfrm>
          <a:prstGeom prst="rect">
            <a:avLst/>
          </a:prstGeom>
          <a:solidFill>
            <a:srgbClr val="C75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45336"/>
            <a:ext cx="46177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600" b="1">
                <a:solidFill>
                  <a:srgbClr val="C75D52"/>
                </a:solidFill>
                <a:latin typeface="맑은 고딕"/>
                <a:ea typeface="맑은 고딕"/>
                <a:cs typeface="맑은 고딕"/>
              </a:rPr>
              <a:t>데이터 불균형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4617720" cy="487553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20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리뷰의 92%가 긍정(4~5점), 부정은 2.5%뿐 → 그대로 학습하면 '긍정'만 예측</a:t>
            </a:r>
            <a:endParaRPr sz="1200" b="0">
              <a:solidFill>
                <a:srgbClr val="2a3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0" y="1417320"/>
            <a:ext cx="457200" cy="14813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200" b="1">
                <a:solidFill>
                  <a:srgbClr val="CF9B53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18488"/>
            <a:ext cx="5120640" cy="1078992"/>
          </a:xfrm>
          <a:prstGeom prst="roundRect">
            <a:avLst>
              <a:gd name="adj" fmla="val 6000"/>
            </a:avLst>
          </a:prstGeom>
          <a:solidFill>
            <a:srgbClr val="EA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475488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150" b="1">
                <a:solidFill>
                  <a:srgbClr val="3E8E5A"/>
                </a:solidFill>
                <a:latin typeface="맑은 고딕"/>
                <a:ea typeface="맑은 고딕"/>
                <a:cs typeface="맑은 고딕"/>
              </a:rPr>
              <a:t>✔ 대처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02536"/>
            <a:ext cx="4754880" cy="480313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20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가장 적은 클래스에 맞춰 균형 샘플링(</a:t>
            </a:r>
            <a:r>
              <a:rPr lang="ko-KR" altLang="en-US" sz="120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약 </a:t>
            </a:r>
            <a:r>
              <a:rPr lang="en-US" altLang="ko-KR" sz="120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30,00</a:t>
            </a:r>
            <a:r>
              <a:rPr sz="120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건)으로 3개 클래스를 공평하게 학습</a:t>
            </a:r>
            <a:endParaRPr sz="1200" b="0">
              <a:solidFill>
                <a:srgbClr val="2a3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" y="3081528"/>
            <a:ext cx="10835640" cy="1481328"/>
          </a:xfrm>
          <a:prstGeom prst="roundRect">
            <a:avLst>
              <a:gd name="adj" fmla="val 6000"/>
            </a:avLst>
          </a:prstGeom>
          <a:solidFill>
            <a:srgbClr val="EA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081528"/>
            <a:ext cx="146304" cy="1481328"/>
          </a:xfrm>
          <a:prstGeom prst="rect">
            <a:avLst/>
          </a:prstGeom>
          <a:solidFill>
            <a:srgbClr val="3C7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09544"/>
            <a:ext cx="46177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600" b="1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평점 ↔ 내용 불일치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11880"/>
            <a:ext cx="4617720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별점은 5점인데 내용은 부정적이거나, 1점인데 칭찬하는 리뷰가 존재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081528"/>
            <a:ext cx="457200" cy="14813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200" b="1">
                <a:solidFill>
                  <a:srgbClr val="CF9B53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282696"/>
            <a:ext cx="5120640" cy="1078992"/>
          </a:xfrm>
          <a:prstGeom prst="roundRect">
            <a:avLst>
              <a:gd name="adj" fmla="val 6000"/>
            </a:avLst>
          </a:prstGeom>
          <a:solidFill>
            <a:srgbClr val="EA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355848"/>
            <a:ext cx="475488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150" b="1">
                <a:solidFill>
                  <a:srgbClr val="3E8E5A"/>
                </a:solidFill>
                <a:latin typeface="맑은 고딕"/>
                <a:ea typeface="맑은 고딕"/>
                <a:cs typeface="맑은 고딕"/>
              </a:rPr>
              <a:t>✔ 대처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666744"/>
            <a:ext cx="4754880" cy="482981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20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평점 기반 라벨을 </a:t>
            </a:r>
            <a:r>
              <a:rPr lang="ko-KR" altLang="en-US" sz="120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확인 후 </a:t>
            </a:r>
            <a:r>
              <a:rPr sz="120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, 학습한 LSTM이 </a:t>
            </a:r>
            <a:r>
              <a:rPr lang="ko-KR" altLang="en-US" sz="120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리뷰 텍스트 </a:t>
            </a:r>
            <a:r>
              <a:rPr sz="120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내용을 직접 판단해 불일치를 확인</a:t>
            </a:r>
            <a:endParaRPr lang="en-US" altLang="ko-KR" sz="1200" b="0">
              <a:solidFill>
                <a:srgbClr val="2a3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5800" y="4745736"/>
            <a:ext cx="10835640" cy="1481328"/>
          </a:xfrm>
          <a:prstGeom prst="roundRect">
            <a:avLst>
              <a:gd name="adj" fmla="val 6000"/>
            </a:avLst>
          </a:prstGeom>
          <a:solidFill>
            <a:srgbClr val="EA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745736"/>
            <a:ext cx="146304" cy="1481328"/>
          </a:xfrm>
          <a:prstGeom prst="rect">
            <a:avLst/>
          </a:prstGeom>
          <a:solidFill>
            <a:srgbClr val="CF9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873752"/>
            <a:ext cx="46177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600" b="1">
                <a:solidFill>
                  <a:srgbClr val="CF9B53"/>
                </a:solidFill>
                <a:latin typeface="맑은 고딕"/>
                <a:ea typeface="맑은 고딕"/>
                <a:cs typeface="맑은 고딕"/>
              </a:rPr>
              <a:t>책과 무관한 리뷰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76088"/>
            <a:ext cx="4617720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'배송 느림'·'품절'·'10권 구매 제한' 등 책 내용이 아닌 리뷰가 감성을 왜곡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745736"/>
            <a:ext cx="457200" cy="14813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200" b="1">
                <a:solidFill>
                  <a:srgbClr val="CF9B53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946904"/>
            <a:ext cx="5120640" cy="1078992"/>
          </a:xfrm>
          <a:prstGeom prst="roundRect">
            <a:avLst>
              <a:gd name="adj" fmla="val 6000"/>
            </a:avLst>
          </a:prstGeom>
          <a:solidFill>
            <a:srgbClr val="EA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5020056"/>
            <a:ext cx="475488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150" b="1">
                <a:solidFill>
                  <a:srgbClr val="3E8E5A"/>
                </a:solidFill>
                <a:latin typeface="맑은 고딕"/>
                <a:ea typeface="맑은 고딕"/>
                <a:cs typeface="맑은 고딕"/>
              </a:rPr>
              <a:t>✔ 대처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330952"/>
            <a:ext cx="4754880" cy="48564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20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배송·특전·구매 제한 등 키워드를 전처리 단계에서 제거 → 정제 데이터만 사용</a:t>
            </a:r>
            <a:endParaRPr sz="1200" b="0">
              <a:solidFill>
                <a:srgbClr val="2a3b3e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0292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CF9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7" y="466344"/>
            <a:ext cx="8229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600" b="1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3035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984248"/>
            <a:ext cx="502920" cy="502920"/>
          </a:xfrm>
          <a:prstGeom prst="roundRect">
            <a:avLst>
              <a:gd name="adj" fmla="val 6000"/>
            </a:avLst>
          </a:prstGeom>
          <a:solidFill>
            <a:srgbClr val="3C7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502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002536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책 검색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697480"/>
            <a:ext cx="4718304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제목 일부만 입력해도 검색 (예: '상' → 상실의 시대, 이상한 나라의 앨리스…)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035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984248"/>
            <a:ext cx="502920" cy="502920"/>
          </a:xfrm>
          <a:prstGeom prst="roundRect">
            <a:avLst>
              <a:gd name="adj" fmla="val 6000"/>
            </a:avLst>
          </a:prstGeom>
          <a:solidFill>
            <a:srgbClr val="3C7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02536"/>
            <a:ext cx="502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002536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책 순위 (평점·리뷰순)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4718304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평점 높은순 / 낮은순 / 리뷰 많은순으로 도서 정렬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31920"/>
            <a:ext cx="53035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4224528"/>
            <a:ext cx="502920" cy="502920"/>
          </a:xfrm>
          <a:prstGeom prst="roundRect">
            <a:avLst>
              <a:gd name="adj" fmla="val 6000"/>
            </a:avLst>
          </a:prstGeom>
          <a:solidFill>
            <a:srgbClr val="3C7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42816"/>
            <a:ext cx="502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242816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단어 빈도수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4937760"/>
            <a:ext cx="4718304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책별 리뷰에서 자주 나온 단어를 막대그래프로 시각화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31920"/>
            <a:ext cx="53035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4224528"/>
            <a:ext cx="502920" cy="502920"/>
          </a:xfrm>
          <a:prstGeom prst="roundRect">
            <a:avLst>
              <a:gd name="adj" fmla="val 6000"/>
            </a:avLst>
          </a:prstGeom>
          <a:solidFill>
            <a:srgbClr val="3C7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242816"/>
            <a:ext cx="502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242816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LSTM 감성 판단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937760"/>
            <a:ext cx="4718304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랜덤 리뷰를 학습한 LSTM이 긍정·중립·부정으로 판단 (확신도 함께 표시)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0292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CF9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7" y="466344"/>
            <a:ext cx="8229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600" b="1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감성 모델 정확도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840480" cy="3154680"/>
          </a:xfrm>
          <a:prstGeom prst="roundRect">
            <a:avLst>
              <a:gd name="adj" fmla="val 6000"/>
            </a:avLst>
          </a:prstGeom>
          <a:solidFill>
            <a:srgbClr val="2E4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47472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4600" b="1">
                <a:solidFill>
                  <a:srgbClr val="CF9B53"/>
                </a:solidFill>
                <a:latin typeface="맑은 고딕"/>
                <a:ea typeface="맑은 고딕"/>
                <a:cs typeface="맑은 고딕"/>
              </a:rPr>
              <a:t>62.6%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3474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400" b="0">
                <a:solidFill>
                  <a:srgbClr val="DCEAE6"/>
                </a:solidFill>
                <a:latin typeface="맑은 고딕"/>
                <a:ea typeface="맑은 고딕"/>
                <a:cs typeface="맑은 고딕"/>
              </a:rPr>
              <a:t>LSTM 3개 클래스 분류 정확도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3474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A9C4BE"/>
                </a:solidFill>
                <a:latin typeface="맑은 고딕"/>
                <a:ea typeface="맑은 고딕"/>
                <a:cs typeface="맑은 고딕"/>
              </a:rPr>
              <a:t>랜덤 추측(33%)의 약 1.9배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3474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1">
                <a:solidFill>
                  <a:srgbClr val="CF9B53"/>
                </a:solidFill>
                <a:latin typeface="맑은 고딕"/>
                <a:ea typeface="맑은 고딕"/>
                <a:cs typeface="맑은 고딕"/>
              </a:rPr>
              <a:t>macro-F1  0.62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892040" y="1554480"/>
          <a:ext cx="6492240" cy="315468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85800" y="4937760"/>
            <a:ext cx="10698480" cy="1417320"/>
          </a:xfrm>
          <a:prstGeom prst="roundRect">
            <a:avLst>
              <a:gd name="adj" fmla="val 6000"/>
            </a:avLst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074920"/>
            <a:ext cx="10149840" cy="62738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/>
            </a:pPr>
            <a:r>
              <a:rPr sz="140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리뷰 텍스트를 형태소 분석 → 임베딩 → LSTM으로 학습해 긍정·중립·부정을 분류한다.</a:t>
            </a:r>
            <a:endParaRPr sz="1400" b="0">
              <a:solidFill>
                <a:srgbClr val="2a3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  <a:defRPr/>
            </a:pPr>
            <a:r>
              <a:rPr sz="140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부정·긍정은 비교적 잘 구분하지만, 경계가 모호한 </a:t>
            </a:r>
            <a:r>
              <a:rPr sz="1400" b="1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‘중립’</a:t>
            </a:r>
            <a:r>
              <a:rPr sz="1400">
                <a:solidFill>
                  <a:schemeClr val="tx1"/>
                </a:solidFill>
                <a:latin typeface="맑은 고딕"/>
                <a:ea typeface="맑은 고딕"/>
                <a:cs typeface="맑은 고딕"/>
              </a:rPr>
              <a:t>에서 정확도가 떨어</a:t>
            </a:r>
            <a:r>
              <a:rPr lang="ko-KR" altLang="en-US" sz="1400">
                <a:solidFill>
                  <a:schemeClr val="tx1"/>
                </a:solidFill>
                <a:latin typeface="맑은 고딕"/>
                <a:ea typeface="맑은 고딕"/>
                <a:cs typeface="맑은 고딕"/>
              </a:rPr>
              <a:t>짐</a:t>
            </a:r>
            <a:endParaRPr lang="ko-KR" altLang="en-US" sz="1400">
              <a:solidFill>
                <a:schemeClr val="tx1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0292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CF9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7" y="466344"/>
            <a:ext cx="7315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600" b="1" i="0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무관 리뷰 제거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146304" cy="1417320"/>
          </a:xfrm>
          <a:prstGeom prst="rect">
            <a:avLst/>
          </a:prstGeom>
          <a:solidFill>
            <a:srgbClr val="3C7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18488"/>
            <a:ext cx="1024128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700" b="1" i="0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책과 무관한 리뷰 (배송·특전·구매 제한 등)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057400"/>
            <a:ext cx="4572000" cy="77724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30552"/>
            <a:ext cx="42062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100" b="1" i="0">
                <a:solidFill>
                  <a:srgbClr val="C75D52"/>
                </a:solidFill>
                <a:latin typeface="맑은 고딕"/>
                <a:ea typeface="맑은 고딕"/>
                <a:cs typeface="맑은 고딕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95728"/>
            <a:ext cx="420624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평점 낮은 정책·배송 불만이 책 감성을 왜곡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2011680"/>
            <a:ext cx="502920" cy="8686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200" b="1" i="0">
                <a:solidFill>
                  <a:srgbClr val="CF9B53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57400"/>
            <a:ext cx="5166360" cy="777240"/>
          </a:xfrm>
          <a:prstGeom prst="roundRect">
            <a:avLst>
              <a:gd name="adj" fmla="val 6000"/>
            </a:avLst>
          </a:prstGeom>
          <a:solidFill>
            <a:srgbClr val="EA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130552"/>
            <a:ext cx="4800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100" b="1" i="0">
                <a:solidFill>
                  <a:srgbClr val="3E8E5A"/>
                </a:solidFill>
                <a:latin typeface="맑은 고딕"/>
                <a:ea typeface="맑은 고딕"/>
                <a:cs typeface="맑은 고딕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95728"/>
            <a:ext cx="480060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전처리 단계에서 키워드로 자동 제거 → 앱은 정제 데이터만 사용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85800" y="3154680"/>
          <a:ext cx="6675120" cy="33375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7635240" y="3291840"/>
            <a:ext cx="3886200" cy="3017520"/>
          </a:xfrm>
          <a:prstGeom prst="roundRect">
            <a:avLst>
              <a:gd name="adj" fmla="val 6000"/>
            </a:avLst>
          </a:prstGeom>
          <a:solidFill>
            <a:srgbClr val="2E4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3520440"/>
            <a:ext cx="33375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1" i="0">
                <a:solidFill>
                  <a:srgbClr val="CF9B53"/>
                </a:solidFill>
                <a:latin typeface="맑은 고딕"/>
                <a:ea typeface="맑은 고딕"/>
                <a:cs typeface="맑은 고딕"/>
              </a:rPr>
              <a:t>핵심 발견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023360"/>
            <a:ext cx="3337560" cy="1307465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/>
            </a:pPr>
            <a:r>
              <a:rPr sz="1350" b="0" i="0">
                <a:solidFill>
                  <a:srgbClr val="e4efec"/>
                </a:solidFill>
                <a:latin typeface="맑은 고딕"/>
                <a:ea typeface="맑은 고딕"/>
                <a:cs typeface="맑은 고딕"/>
              </a:rPr>
              <a:t>무관 리뷰는 특별판·한정판 같은</a:t>
            </a:r>
            <a:endParaRPr sz="1350" b="0" i="0">
              <a:solidFill>
                <a:srgbClr val="e4efec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5000"/>
              </a:lnSpc>
              <a:spcAft>
                <a:spcPts val="1000"/>
              </a:spcAft>
              <a:defRPr/>
            </a:pPr>
            <a:r>
              <a:rPr sz="1350" b="1" i="0">
                <a:solidFill>
                  <a:srgbClr val="cf9b53"/>
                </a:solidFill>
                <a:latin typeface="맑은 고딕"/>
                <a:ea typeface="맑은 고딕"/>
                <a:cs typeface="맑은 고딕"/>
              </a:rPr>
              <a:t>화제작에 집중</a:t>
            </a:r>
            <a:r>
              <a:rPr sz="1350" b="0" i="0">
                <a:solidFill>
                  <a:srgbClr val="e4efec"/>
                </a:solidFill>
                <a:latin typeface="맑은 고딕"/>
                <a:ea typeface="맑은 고딕"/>
                <a:cs typeface="맑은 고딕"/>
              </a:rPr>
              <a:t>된다.</a:t>
            </a:r>
            <a:endParaRPr sz="1350" b="0" i="0">
              <a:solidFill>
                <a:srgbClr val="e4efec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  <a:defRPr/>
            </a:pPr>
            <a:r>
              <a:rPr sz="1350" b="0" i="0">
                <a:solidFill>
                  <a:srgbClr val="e4efec"/>
                </a:solidFill>
                <a:latin typeface="맑은 고딕"/>
                <a:ea typeface="맑은 고딕"/>
                <a:cs typeface="맑은 고딕"/>
              </a:rPr>
              <a:t>전체 평균은 </a:t>
            </a: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2.4%</a:t>
            </a:r>
            <a:r>
              <a:rPr sz="1350" b="0" i="0">
                <a:solidFill>
                  <a:srgbClr val="e4efec"/>
                </a:solidFill>
                <a:latin typeface="맑은 고딕"/>
                <a:ea typeface="맑은 고딕"/>
                <a:cs typeface="맑은 고딕"/>
              </a:rPr>
              <a:t>지만,</a:t>
            </a:r>
            <a:endParaRPr sz="1350" b="0" i="0">
              <a:solidFill>
                <a:srgbClr val="e4efec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5000"/>
              </a:lnSpc>
              <a:defRPr/>
            </a:pPr>
            <a:r>
              <a:rPr sz="1350" b="0" i="0">
                <a:solidFill>
                  <a:srgbClr val="e4efec"/>
                </a:solidFill>
                <a:latin typeface="맑은 고딕"/>
                <a:ea typeface="맑은 고딕"/>
                <a:cs typeface="맑은 고딕"/>
              </a:rPr>
              <a:t>특장</a:t>
            </a:r>
            <a:r>
              <a:rPr lang="ko-KR" altLang="en-US" sz="1350" b="0" i="0">
                <a:solidFill>
                  <a:srgbClr val="e4efec"/>
                </a:solidFill>
                <a:latin typeface="맑은 고딕"/>
                <a:ea typeface="맑은 고딕"/>
                <a:cs typeface="맑은 고딕"/>
              </a:rPr>
              <a:t>판</a:t>
            </a:r>
            <a:r>
              <a:rPr lang="en-US" altLang="ko-KR" sz="1350" b="0" i="0">
                <a:solidFill>
                  <a:srgbClr val="e4efec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350" b="0" i="0">
                <a:solidFill>
                  <a:srgbClr val="e4efec"/>
                </a:solidFill>
                <a:latin typeface="맑은 고딕"/>
                <a:ea typeface="맑은 고딕"/>
                <a:cs typeface="맑은 고딕"/>
              </a:rPr>
              <a:t>한정판</a:t>
            </a:r>
            <a:r>
              <a:rPr lang="en-US" altLang="ko-KR" sz="1350" b="0" i="0">
                <a:solidFill>
                  <a:srgbClr val="e4efec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1350" b="0" i="0">
                <a:solidFill>
                  <a:srgbClr val="e4efec"/>
                </a:solidFill>
                <a:latin typeface="맑은 고딕"/>
                <a:ea typeface="맑은 고딕"/>
                <a:cs typeface="맑은 고딕"/>
              </a:rPr>
              <a:t> 약 </a:t>
            </a: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50%</a:t>
            </a:r>
            <a:r>
              <a:rPr sz="1350" b="0" i="0">
                <a:solidFill>
                  <a:srgbClr val="e4efec"/>
                </a:solidFill>
                <a:latin typeface="맑은 고딕"/>
                <a:ea typeface="맑은 고딕"/>
                <a:cs typeface="맑은 고딕"/>
              </a:rPr>
              <a:t>가 잡음</a:t>
            </a:r>
            <a:endParaRPr sz="1350" b="0" i="0">
              <a:solidFill>
                <a:srgbClr val="e4efec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029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F9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7" y="466344"/>
            <a:ext cx="9144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600" b="1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학습 로그 · 성능 · 배포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600200"/>
          <a:ext cx="61264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983480"/>
            <a:ext cx="5852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6E8480"/>
                </a:solidFill>
                <a:latin typeface="맑은 고딕"/>
                <a:ea typeface="맑은 고딕"/>
                <a:cs typeface="맑은 고딕"/>
              </a:rPr>
              <a:t>검증 정확도가 더 안 오르자 자동 종료 → 과적합 방지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1459" y="1636776"/>
            <a:ext cx="4480560" cy="877824"/>
          </a:xfrm>
          <a:prstGeom prst="roundRect">
            <a:avLst>
              <a:gd name="adj" fmla="val 8000"/>
            </a:avLst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Rectangle 11"/>
          <p:cNvSpPr/>
          <p:nvPr/>
        </p:nvSpPr>
        <p:spPr>
          <a:xfrm>
            <a:off x="7261459" y="1636776"/>
            <a:ext cx="109728" cy="877824"/>
          </a:xfrm>
          <a:prstGeom prst="rect">
            <a:avLst/>
          </a:prstGeom>
          <a:solidFill>
            <a:srgbClr val="3c7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490059" y="1728216"/>
            <a:ext cx="4114800" cy="32004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defRPr/>
            </a:pPr>
            <a:r>
              <a:rPr sz="1350" b="1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학습 / Early Stopping</a:t>
            </a:r>
            <a:endParaRPr sz="1350" b="1">
              <a:solidFill>
                <a:srgbClr val="3c726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90059" y="2039112"/>
            <a:ext cx="41148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115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총 6 epoch · 약 134초 · 최적 3 epoch (patience=3)</a:t>
            </a:r>
            <a:endParaRPr sz="1150" b="0">
              <a:solidFill>
                <a:srgbClr val="2a3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261459" y="2606040"/>
            <a:ext cx="4480560" cy="877824"/>
          </a:xfrm>
          <a:prstGeom prst="roundRect">
            <a:avLst>
              <a:gd name="adj" fmla="val 8000"/>
            </a:avLst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Rectangle 15"/>
          <p:cNvSpPr/>
          <p:nvPr/>
        </p:nvSpPr>
        <p:spPr>
          <a:xfrm>
            <a:off x="7261459" y="2606040"/>
            <a:ext cx="109728" cy="877824"/>
          </a:xfrm>
          <a:prstGeom prst="rect">
            <a:avLst/>
          </a:prstGeom>
          <a:solidFill>
            <a:srgbClr val="3c7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7490059" y="2697480"/>
            <a:ext cx="4114800" cy="32004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defRPr/>
            </a:pPr>
            <a:r>
              <a:rPr sz="1350" b="1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성능</a:t>
            </a:r>
            <a:endParaRPr sz="1350" b="1">
              <a:solidFill>
                <a:srgbClr val="3c726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90059" y="3008376"/>
            <a:ext cx="41148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115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정확도 62.6% · macro-F1 0.62 (3개 클래스)</a:t>
            </a:r>
            <a:endParaRPr sz="1150" b="0">
              <a:solidFill>
                <a:srgbClr val="2a3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261459" y="3575304"/>
            <a:ext cx="4480560" cy="877824"/>
          </a:xfrm>
          <a:prstGeom prst="roundRect">
            <a:avLst>
              <a:gd name="adj" fmla="val 8000"/>
            </a:avLst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Rectangle 19"/>
          <p:cNvSpPr/>
          <p:nvPr/>
        </p:nvSpPr>
        <p:spPr>
          <a:xfrm>
            <a:off x="7261459" y="3575304"/>
            <a:ext cx="109728" cy="877824"/>
          </a:xfrm>
          <a:prstGeom prst="rect">
            <a:avLst/>
          </a:prstGeom>
          <a:solidFill>
            <a:srgbClr val="3c7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7490059" y="3666743"/>
            <a:ext cx="4114800" cy="32004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defRPr/>
            </a:pPr>
            <a:r>
              <a:rPr sz="1350" b="1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1350" b="1">
              <a:solidFill>
                <a:srgbClr val="3c726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0059" y="3977640"/>
            <a:ext cx="41148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115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책별 감성 분포 · 대표 리뷰 · 단어 빈도수</a:t>
            </a:r>
            <a:endParaRPr sz="1150" b="0">
              <a:solidFill>
                <a:srgbClr val="2a3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261459" y="4544568"/>
            <a:ext cx="4480560" cy="877824"/>
          </a:xfrm>
          <a:prstGeom prst="roundRect">
            <a:avLst>
              <a:gd name="adj" fmla="val 8000"/>
            </a:avLst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Rectangle 23"/>
          <p:cNvSpPr/>
          <p:nvPr/>
        </p:nvSpPr>
        <p:spPr>
          <a:xfrm>
            <a:off x="7261459" y="4544568"/>
            <a:ext cx="109728" cy="877824"/>
          </a:xfrm>
          <a:prstGeom prst="rect">
            <a:avLst/>
          </a:prstGeom>
          <a:solidFill>
            <a:srgbClr val="3c7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7490059" y="4636008"/>
            <a:ext cx="4114800" cy="32004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defRPr/>
            </a:pPr>
            <a:r>
              <a:rPr sz="1350" b="1">
                <a:solidFill>
                  <a:srgbClr val="3c7269"/>
                </a:solidFill>
                <a:latin typeface="맑은 고딕"/>
                <a:ea typeface="맑은 고딕"/>
                <a:cs typeface="맑은 고딕"/>
              </a:rPr>
              <a:t>배포</a:t>
            </a:r>
            <a:endParaRPr sz="1350" b="1">
              <a:solidFill>
                <a:srgbClr val="3c726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90059" y="4946904"/>
            <a:ext cx="4114800" cy="24104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1150" b="0">
                <a:solidFill>
                  <a:srgbClr val="2a3b3e"/>
                </a:solidFill>
                <a:latin typeface="맑은 고딕"/>
                <a:ea typeface="맑은 고딕"/>
                <a:cs typeface="맑은 고딕"/>
              </a:rPr>
              <a:t>Streamlit 웹앱 </a:t>
            </a:r>
            <a:endParaRPr sz="1150" b="0">
              <a:solidFill>
                <a:srgbClr val="2a3b3e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336</ep:Words>
  <ep:PresentationFormat>On-screen Show (4:3)</ep:PresentationFormat>
  <ep:Paragraphs>135</ep:Paragraphs>
  <ep:Slides>7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user</cp:lastModifiedBy>
  <dcterms:modified xsi:type="dcterms:W3CDTF">2026-07-01T14:00:24.454</dcterms:modified>
  <cp:revision>11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